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4572" autoAdjust="0"/>
    <p:restoredTop sz="86400" autoAdjust="0"/>
  </p:normalViewPr>
  <p:slideViewPr>
    <p:cSldViewPr snapToGrid="0" snapToObjects="1">
      <p:cViewPr varScale="1">
        <p:scale>
          <a:sx n="75" d="100"/>
          <a:sy n="75" d="100"/>
        </p:scale>
        <p:origin x="77" y="216"/>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snapToObjects="1">
      <p:cViewPr varScale="1">
        <p:scale>
          <a:sx n="69" d="100"/>
          <a:sy n="69" d="100"/>
        </p:scale>
        <p:origin x="10762" y="91"/>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545976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Slideshow Made by Jeremy Pauley – 10/17/2026</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Liam and Ian, when we first discussed </a:t>
            </a:r>
            <a:r>
              <a:rPr lang="en-US" dirty="0" err="1"/>
              <a:t>DriverPass</a:t>
            </a:r>
            <a:r>
              <a:rPr lang="en-US" dirty="0"/>
              <a:t>, one thing stood out to me. You are not simply looking for a website where students can take practice tests. </a:t>
            </a:r>
          </a:p>
          <a:p>
            <a:r>
              <a:rPr lang="en-US" dirty="0"/>
              <a:t>You are building a business that brings classroom preparation, practice testing, and behind-the-wheel instruction together.</a:t>
            </a:r>
          </a:p>
          <a:p>
            <a:r>
              <a:rPr lang="en-US" dirty="0"/>
              <a:t>That means the system needs to do more than give customers a place to log in. It needs to make the day-to-day operation of </a:t>
            </a:r>
            <a:r>
              <a:rPr lang="en-US" dirty="0" err="1"/>
              <a:t>DriverPass</a:t>
            </a:r>
            <a:r>
              <a:rPr lang="en-US" dirty="0"/>
              <a:t> easier.</a:t>
            </a:r>
          </a:p>
          <a:p>
            <a:r>
              <a:rPr lang="en-US" dirty="0"/>
              <a:t>For example, when a customer schedules a driving lesson, the system needs to know whether that customer has available training hours, whether an instructor is available, and whether a vehicle is already assigned somewhere else.</a:t>
            </a:r>
          </a:p>
          <a:p>
            <a:r>
              <a:rPr lang="en-US" dirty="0"/>
              <a:t>At the same time, we want the system to be dependable. Your employees should only have access to the information they need, customer records should remain protected, and everyone should be working with the same up-to-date information.</a:t>
            </a:r>
          </a:p>
          <a:p>
            <a:r>
              <a:rPr lang="en-US" dirty="0"/>
              <a:t>These requirements give us a foundation for designing a system that supports both your customers and the people running your business.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Liam and Ian, this diagram gives us a high-level view of how everyone interacts with the </a:t>
            </a:r>
            <a:r>
              <a:rPr lang="en-US" dirty="0" err="1"/>
              <a:t>DriverPass</a:t>
            </a:r>
            <a:r>
              <a:rPr lang="en-US" dirty="0"/>
              <a:t> system.</a:t>
            </a:r>
            <a:r>
              <a:rPr lang="en-US" baseline="0" dirty="0"/>
              <a:t> </a:t>
            </a:r>
            <a:r>
              <a:rPr lang="en-US" dirty="0"/>
              <a:t>On the customer side, students can manage their accounts, access training materials, take practice exams, and schedule driving lessons.</a:t>
            </a:r>
          </a:p>
          <a:p>
            <a:r>
              <a:rPr lang="en-US" dirty="0"/>
              <a:t>Your secretary can help customers who prefer to call or visit the office, so they receive the same scheduling support without having to manage everything online themselves.</a:t>
            </a:r>
          </a:p>
          <a:p>
            <a:r>
              <a:rPr lang="en-US" dirty="0"/>
              <a:t>Instructors have access to their assigned lessons and can record the information needed to track a student's behind-the-wheel training.</a:t>
            </a:r>
          </a:p>
          <a:p>
            <a:r>
              <a:rPr lang="en-US" dirty="0"/>
              <a:t>Liam, your responsibilities are focused on overseeing the business, reviewing records, and understanding how </a:t>
            </a:r>
            <a:r>
              <a:rPr lang="en-US" dirty="0" err="1"/>
              <a:t>DriverPass</a:t>
            </a:r>
            <a:r>
              <a:rPr lang="en-US" dirty="0"/>
              <a:t> is operating. Ian, your responsibilities are different. You need the tools to manage accounts, control access, and maintain the system.</a:t>
            </a:r>
          </a:p>
          <a:p>
            <a:r>
              <a:rPr lang="en-US" dirty="0"/>
              <a:t>That separation is intentional. We want each person to have the tools needed to do their job without giving everyone unrestricted access to the entire system.</a:t>
            </a:r>
          </a:p>
          <a:p>
            <a:r>
              <a:rPr lang="en-US" dirty="0"/>
              <a:t>The DMV connection is also represented because keeping your training information current is an important part of the service you're providing.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look at how one of the most important parts of your business will work: scheduling a driving lesson.</a:t>
            </a:r>
          </a:p>
          <a:p>
            <a:r>
              <a:rPr lang="en-US" dirty="0"/>
              <a:t>Whether a student schedules online or your secretary schedules on their behalf, the process follows the same rules.</a:t>
            </a:r>
          </a:p>
          <a:p>
            <a:r>
              <a:rPr lang="en-US" dirty="0"/>
              <a:t>First, the system checks that the student is eligible to schedule the lesson and has the necessary training hours available. Next, it checks the requested time against your instructors and vehicles.</a:t>
            </a:r>
          </a:p>
          <a:p>
            <a:r>
              <a:rPr lang="en-US" dirty="0"/>
              <a:t>If everything is available, the appointment is saved and confirmed. If something conflicts, the customer or secretary can choose another available time instead of creating a scheduling problem that someone has to fix later.</a:t>
            </a:r>
          </a:p>
          <a:p>
            <a:r>
              <a:rPr lang="en-US" dirty="0"/>
              <a:t>This is important because you are coordinating students, instructors, vehicles, and two-hour training sessions. Even a small scheduling mistake can affect several people.</a:t>
            </a:r>
          </a:p>
          <a:p>
            <a:r>
              <a:rPr lang="en-US" dirty="0"/>
              <a:t>Our goal here is to catch those problems before the appointment is confirmed, rather than leaving your team to discover them afterward.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Ian, one of the concerns you raised was making sure employees have the right level of access and that you can manage those accounts when someone forgets a password or leaves the company.</a:t>
            </a:r>
          </a:p>
          <a:p>
            <a:r>
              <a:rPr lang="en-US" dirty="0"/>
              <a:t>We've addressed that by designing the system around individual accounts and clearly defined responsibilities.</a:t>
            </a:r>
          </a:p>
          <a:p>
            <a:r>
              <a:rPr lang="en-US" dirty="0"/>
              <a:t>Liam, you also mentioned wanting to know who created, changed, or canceled an appointment. Rather than relying on someone remembering what happened, the system will maintain a record of those actions so your team can review them when questions come up.</a:t>
            </a:r>
          </a:p>
          <a:p>
            <a:r>
              <a:rPr lang="en-US" dirty="0"/>
              <a:t>We're also recommending that payment information be handled through a dedicated payment provider instead of storing customers' credit card details directly in </a:t>
            </a:r>
            <a:r>
              <a:rPr lang="en-US" dirty="0" err="1"/>
              <a:t>DriverPass</a:t>
            </a:r>
            <a:r>
              <a:rPr lang="en-US" dirty="0"/>
              <a:t>.</a:t>
            </a:r>
          </a:p>
          <a:p>
            <a:r>
              <a:rPr lang="en-US" dirty="0"/>
              <a:t>Finally, our proposed cloud environment will support backups, monitoring, and recovery.</a:t>
            </a:r>
          </a:p>
          <a:p>
            <a:r>
              <a:rPr lang="en-US" dirty="0"/>
              <a:t>The goal is not simply to keep unauthorized people out. It's to give your team confidence that customer information is protected, changes are accountable, and the business can operate reliably.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move forward, I want to be clear about a few limitations and decisions we still need to make together.</a:t>
            </a:r>
          </a:p>
          <a:p>
            <a:r>
              <a:rPr lang="en-US" dirty="0"/>
              <a:t>First, the system is designed to work online. You will be able to download reports and review information offline, but changes to customer records and appointments need to happen while connected. This prevents different copies of information from getting out of sync.</a:t>
            </a:r>
          </a:p>
          <a:p>
            <a:r>
              <a:rPr lang="en-US" dirty="0"/>
              <a:t>Second, keeping training materials current with DMV requirements is part of our design. However, we still need to confirm how the DMV makes those updates available before we can finalize that connection.</a:t>
            </a:r>
          </a:p>
          <a:p>
            <a:r>
              <a:rPr lang="en-US" dirty="0"/>
              <a:t>There are also ongoing costs associated with cloud hosting and payment processing. We've recommended a Microsoft-based environment to keep the technology manageable, but we need to confirm your existing services and budget before treating that as a final purchasing decision.</a:t>
            </a:r>
          </a:p>
          <a:p>
            <a:r>
              <a:rPr lang="en-US" dirty="0"/>
              <a:t>Finally, the system will support your three current training packages. The ability to build completely new packages from custom training modules can be added later, but we're keeping that outside the initial release.</a:t>
            </a:r>
          </a:p>
          <a:p>
            <a:r>
              <a:rPr lang="en-US" dirty="0"/>
              <a:t>My recommendation is to get the core experience working well first: customer registration, training access, scheduling, progress tracking, and the tools your employees need. Once that foundation is dependable, </a:t>
            </a:r>
            <a:r>
              <a:rPr lang="en-US" dirty="0" err="1"/>
              <a:t>DriverPass</a:t>
            </a:r>
            <a:r>
              <a:rPr lang="en-US" dirty="0"/>
              <a:t> will be in a much stronger position to expand.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mnt/data/driverpass_assets/blue_image1.png"/>
          <p:cNvPicPr>
            <a:picLocks noChangeAspect="1"/>
          </p:cNvPicPr>
          <p:nvPr/>
        </p:nvPicPr>
        <p:blipFill>
          <a:blip r:embed="rId3"/>
          <a:stretch>
            <a:fillRect/>
          </a:stretch>
        </p:blipFill>
        <p:spPr>
          <a:xfrm>
            <a:off x="0" y="0"/>
            <a:ext cx="12191970" cy="6858000"/>
          </a:xfrm>
          <a:prstGeom prst="rect">
            <a:avLst/>
          </a:prstGeom>
        </p:spPr>
      </p:pic>
      <p:sp>
        <p:nvSpPr>
          <p:cNvPr id="3" name="Text 0"/>
          <p:cNvSpPr/>
          <p:nvPr/>
        </p:nvSpPr>
        <p:spPr>
          <a:xfrm>
            <a:off x="2788920" y="2148840"/>
            <a:ext cx="6583680" cy="1737360"/>
          </a:xfrm>
          <a:prstGeom prst="rect">
            <a:avLst/>
          </a:prstGeom>
          <a:noFill/>
          <a:ln/>
        </p:spPr>
        <p:txBody>
          <a:bodyPr wrap="square" lIns="0" tIns="0" rIns="0" bIns="0" rtlCol="0" anchor="ctr"/>
          <a:lstStyle/>
          <a:p>
            <a:pPr marL="0" indent="0" algn="ctr">
              <a:buNone/>
            </a:pPr>
            <a:r>
              <a:rPr lang="en-US" sz="4400" dirty="0">
                <a:solidFill>
                  <a:srgbClr val="FFFFFF"/>
                </a:solidFill>
                <a:latin typeface="Aptos Display" pitchFamily="34" charset="0"/>
                <a:ea typeface="Aptos Display" pitchFamily="34" charset="-122"/>
                <a:cs typeface="Aptos Display" pitchFamily="34" charset="-120"/>
              </a:rPr>
              <a:t>DriverPass</a:t>
            </a:r>
            <a:endParaRPr lang="en-US" sz="4400" dirty="0"/>
          </a:p>
          <a:p>
            <a:pPr marL="0" indent="0" algn="ctr">
              <a:buNone/>
            </a:pPr>
            <a:r>
              <a:rPr lang="en-US" sz="4400" dirty="0">
                <a:solidFill>
                  <a:srgbClr val="FFFFFF"/>
                </a:solidFill>
                <a:latin typeface="Aptos Display" pitchFamily="34" charset="0"/>
                <a:ea typeface="Aptos Display" pitchFamily="34" charset="-122"/>
                <a:cs typeface="Aptos Display" pitchFamily="34" charset="-120"/>
              </a:rPr>
              <a:t>System Analysis</a:t>
            </a:r>
            <a:endParaRPr lang="en-US" sz="4400" dirty="0"/>
          </a:p>
        </p:txBody>
      </p:sp>
      <p:sp>
        <p:nvSpPr>
          <p:cNvPr id="4" name="Text 1"/>
          <p:cNvSpPr/>
          <p:nvPr/>
        </p:nvSpPr>
        <p:spPr>
          <a:xfrm>
            <a:off x="2834640" y="4096512"/>
            <a:ext cx="6492240" cy="411480"/>
          </a:xfrm>
          <a:prstGeom prst="rect">
            <a:avLst/>
          </a:prstGeom>
          <a:noFill/>
          <a:ln/>
        </p:spPr>
        <p:txBody>
          <a:bodyPr wrap="square" lIns="0" tIns="0" rIns="0" bIns="0" rtlCol="0" anchor="ctr"/>
          <a:lstStyle/>
          <a:p>
            <a:pPr marL="0" indent="0" algn="ctr">
              <a:buNone/>
            </a:pPr>
            <a:r>
              <a:rPr lang="en-US" sz="2100" dirty="0">
                <a:solidFill>
                  <a:srgbClr val="FFFFFF"/>
                </a:solidFill>
                <a:latin typeface="Aptos" pitchFamily="34" charset="0"/>
                <a:ea typeface="Aptos" pitchFamily="34" charset="-122"/>
                <a:cs typeface="Aptos" pitchFamily="34" charset="-120"/>
              </a:rPr>
              <a:t>Jeremy R. Pauley  |  CS 255</a:t>
            </a:r>
            <a:endParaRPr lang="en-US" sz="2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pic>
        <p:nvPicPr>
          <p:cNvPr id="2" name="Image 0" descr="/mnt/data/driverpass_assets/blue_image2.png"/>
          <p:cNvPicPr>
            <a:picLocks noChangeAspect="1"/>
          </p:cNvPicPr>
          <p:nvPr/>
        </p:nvPicPr>
        <p:blipFill>
          <a:blip r:embed="rId3"/>
          <a:stretch>
            <a:fillRect/>
          </a:stretch>
        </p:blipFill>
        <p:spPr>
          <a:xfrm>
            <a:off x="0" y="-23200"/>
            <a:ext cx="12191970" cy="6858000"/>
          </a:xfrm>
          <a:prstGeom prst="rect">
            <a:avLst/>
          </a:prstGeom>
        </p:spPr>
      </p:pic>
      <p:sp>
        <p:nvSpPr>
          <p:cNvPr id="3" name="Text 0"/>
          <p:cNvSpPr/>
          <p:nvPr/>
        </p:nvSpPr>
        <p:spPr>
          <a:xfrm>
            <a:off x="713232" y="2331720"/>
            <a:ext cx="4023360" cy="2103120"/>
          </a:xfrm>
          <a:prstGeom prst="rect">
            <a:avLst/>
          </a:prstGeom>
          <a:noFill/>
          <a:ln/>
        </p:spPr>
        <p:txBody>
          <a:bodyPr wrap="square" lIns="0" tIns="0" rIns="0" bIns="0" rtlCol="0" anchor="ctr">
            <a:normAutofit/>
          </a:bodyPr>
          <a:lstStyle/>
          <a:p>
            <a:pPr marL="0" indent="0">
              <a:buNone/>
            </a:pPr>
            <a:r>
              <a:rPr lang="en-US" sz="3500" dirty="0">
                <a:solidFill>
                  <a:srgbClr val="FFFFFF"/>
                </a:solidFill>
                <a:latin typeface="Aptos Display" pitchFamily="34" charset="0"/>
                <a:ea typeface="Aptos Display" pitchFamily="34" charset="-122"/>
                <a:cs typeface="Aptos Display" pitchFamily="34" charset="-120"/>
              </a:rPr>
              <a:t>System</a:t>
            </a:r>
            <a:endParaRPr lang="en-US" sz="3500" dirty="0"/>
          </a:p>
          <a:p>
            <a:pPr marL="0" indent="0">
              <a:buNone/>
            </a:pPr>
            <a:r>
              <a:rPr lang="en-US" sz="3500" dirty="0">
                <a:solidFill>
                  <a:srgbClr val="FFFFFF"/>
                </a:solidFill>
                <a:latin typeface="Aptos Display" pitchFamily="34" charset="0"/>
                <a:ea typeface="Aptos Display" pitchFamily="34" charset="-122"/>
                <a:cs typeface="Aptos Display" pitchFamily="34" charset="-120"/>
              </a:rPr>
              <a:t>Requirements</a:t>
            </a:r>
            <a:endParaRPr lang="en-US" sz="3500" dirty="0"/>
          </a:p>
        </p:txBody>
      </p:sp>
      <p:sp>
        <p:nvSpPr>
          <p:cNvPr id="4" name="Text 1"/>
          <p:cNvSpPr/>
          <p:nvPr/>
        </p:nvSpPr>
        <p:spPr>
          <a:xfrm>
            <a:off x="11567160" y="6473952"/>
            <a:ext cx="320040" cy="201168"/>
          </a:xfrm>
          <a:prstGeom prst="rect">
            <a:avLst/>
          </a:prstGeom>
          <a:noFill/>
          <a:ln/>
        </p:spPr>
        <p:txBody>
          <a:bodyPr wrap="square" lIns="0" tIns="0" rIns="0" bIns="0" rtlCol="0" anchor="ctr"/>
          <a:lstStyle/>
          <a:p>
            <a:pPr marL="0" indent="0" algn="r">
              <a:buNone/>
            </a:pPr>
            <a:r>
              <a:rPr lang="en-US" sz="1000" dirty="0">
                <a:solidFill>
                  <a:srgbClr val="888888"/>
                </a:solidFill>
              </a:rPr>
              <a:t>2</a:t>
            </a:r>
            <a:endParaRPr lang="en-US" sz="1000" dirty="0"/>
          </a:p>
        </p:txBody>
      </p:sp>
      <p:sp>
        <p:nvSpPr>
          <p:cNvPr id="6" name="Text 2"/>
          <p:cNvSpPr/>
          <p:nvPr/>
        </p:nvSpPr>
        <p:spPr>
          <a:xfrm>
            <a:off x="6172200" y="777240"/>
            <a:ext cx="5394960" cy="310896"/>
          </a:xfrm>
          <a:prstGeom prst="rect">
            <a:avLst/>
          </a:prstGeom>
          <a:noFill/>
          <a:ln/>
        </p:spPr>
        <p:txBody>
          <a:bodyPr wrap="square" lIns="0" tIns="0" rIns="0" bIns="0" rtlCol="0" anchor="ctr"/>
          <a:lstStyle/>
          <a:p>
            <a:pPr marL="0" indent="0">
              <a:buNone/>
            </a:pPr>
            <a:r>
              <a:rPr lang="en-US" sz="2000" b="1" dirty="0">
                <a:solidFill>
                  <a:srgbClr val="243A62"/>
                </a:solidFill>
                <a:latin typeface="Aptos" pitchFamily="34" charset="0"/>
                <a:ea typeface="Aptos" pitchFamily="34" charset="-122"/>
                <a:cs typeface="Aptos" pitchFamily="34" charset="-120"/>
              </a:rPr>
              <a:t>What the system requires</a:t>
            </a:r>
            <a:endParaRPr lang="en-US" sz="2000" dirty="0"/>
          </a:p>
        </p:txBody>
      </p:sp>
      <p:sp>
        <p:nvSpPr>
          <p:cNvPr id="7" name="Shape 3"/>
          <p:cNvSpPr/>
          <p:nvPr/>
        </p:nvSpPr>
        <p:spPr>
          <a:xfrm>
            <a:off x="6235047" y="1476756"/>
            <a:ext cx="109728" cy="109728"/>
          </a:xfrm>
          <a:prstGeom prst="ellipse">
            <a:avLst/>
          </a:prstGeom>
          <a:solidFill>
            <a:srgbClr val="396CB8"/>
          </a:solidFill>
          <a:ln w="12700">
            <a:solidFill>
              <a:srgbClr val="396CB8"/>
            </a:solidFill>
            <a:prstDash val="solid"/>
          </a:ln>
        </p:spPr>
        <p:txBody>
          <a:bodyPr/>
          <a:lstStyle/>
          <a:p>
            <a:endParaRPr lang="en-US"/>
          </a:p>
        </p:txBody>
      </p:sp>
      <p:sp>
        <p:nvSpPr>
          <p:cNvPr id="8" name="Text 4"/>
          <p:cNvSpPr/>
          <p:nvPr/>
        </p:nvSpPr>
        <p:spPr>
          <a:xfrm>
            <a:off x="6473952" y="1207008"/>
            <a:ext cx="5166360" cy="649224"/>
          </a:xfrm>
          <a:prstGeom prst="rect">
            <a:avLst/>
          </a:prstGeom>
          <a:noFill/>
          <a:ln/>
        </p:spPr>
        <p:txBody>
          <a:bodyPr wrap="square" lIns="0" tIns="0" rIns="0" bIns="0" rtlCol="0" anchor="ctr">
            <a:normAutofit/>
          </a:bodyPr>
          <a:lstStyle/>
          <a:p>
            <a:r>
              <a:rPr lang="en-US" dirty="0">
                <a:solidFill>
                  <a:srgbClr val="1F2937"/>
                </a:solidFill>
                <a:latin typeface="Aptos" pitchFamily="34" charset="0"/>
                <a:ea typeface="Aptos" pitchFamily="34" charset="-122"/>
                <a:cs typeface="Aptos" pitchFamily="34" charset="-120"/>
              </a:rPr>
              <a:t>Give students one place to access training materials, practice exams, and driving lessons</a:t>
            </a:r>
            <a:endParaRPr lang="en-US" sz="1800" dirty="0"/>
          </a:p>
        </p:txBody>
      </p:sp>
      <p:sp>
        <p:nvSpPr>
          <p:cNvPr id="9" name="Shape 5"/>
          <p:cNvSpPr/>
          <p:nvPr/>
        </p:nvSpPr>
        <p:spPr>
          <a:xfrm>
            <a:off x="6240272" y="2162556"/>
            <a:ext cx="109728" cy="109728"/>
          </a:xfrm>
          <a:prstGeom prst="ellipse">
            <a:avLst/>
          </a:prstGeom>
          <a:solidFill>
            <a:srgbClr val="396CB8"/>
          </a:solidFill>
          <a:ln w="12700">
            <a:solidFill>
              <a:srgbClr val="396CB8"/>
            </a:solidFill>
            <a:prstDash val="solid"/>
          </a:ln>
        </p:spPr>
        <p:txBody>
          <a:bodyPr/>
          <a:lstStyle/>
          <a:p>
            <a:endParaRPr lang="en-US"/>
          </a:p>
        </p:txBody>
      </p:sp>
      <p:sp>
        <p:nvSpPr>
          <p:cNvPr id="10" name="Text 6"/>
          <p:cNvSpPr/>
          <p:nvPr/>
        </p:nvSpPr>
        <p:spPr>
          <a:xfrm>
            <a:off x="6473952" y="1892808"/>
            <a:ext cx="5166360" cy="649224"/>
          </a:xfrm>
          <a:prstGeom prst="rect">
            <a:avLst/>
          </a:prstGeom>
          <a:noFill/>
          <a:ln/>
        </p:spPr>
        <p:txBody>
          <a:bodyPr wrap="square" lIns="0" tIns="0" rIns="0" bIns="0" rtlCol="0" anchor="ctr">
            <a:normAutofit/>
          </a:bodyPr>
          <a:lstStyle/>
          <a:p>
            <a:r>
              <a:rPr lang="en-US" dirty="0">
                <a:solidFill>
                  <a:srgbClr val="1F2937"/>
                </a:solidFill>
                <a:latin typeface="Aptos" pitchFamily="34" charset="0"/>
                <a:ea typeface="Aptos" pitchFamily="34" charset="-122"/>
                <a:cs typeface="Aptos" pitchFamily="34" charset="-120"/>
              </a:rPr>
              <a:t>Make scheduling easier for customers and staff while preventing conflicting appointments</a:t>
            </a:r>
            <a:endParaRPr lang="en-US" sz="1800" dirty="0"/>
          </a:p>
        </p:txBody>
      </p:sp>
      <p:sp>
        <p:nvSpPr>
          <p:cNvPr id="11" name="Text 7"/>
          <p:cNvSpPr/>
          <p:nvPr/>
        </p:nvSpPr>
        <p:spPr>
          <a:xfrm>
            <a:off x="6172200" y="3250352"/>
            <a:ext cx="5394960" cy="310896"/>
          </a:xfrm>
          <a:prstGeom prst="rect">
            <a:avLst/>
          </a:prstGeom>
          <a:noFill/>
          <a:ln/>
        </p:spPr>
        <p:txBody>
          <a:bodyPr wrap="square" lIns="0" tIns="0" rIns="0" bIns="0" rtlCol="0" anchor="ctr"/>
          <a:lstStyle/>
          <a:p>
            <a:pPr marL="0" indent="0">
              <a:buNone/>
            </a:pPr>
            <a:r>
              <a:rPr lang="en-US" sz="2000" b="1" dirty="0">
                <a:solidFill>
                  <a:srgbClr val="243A62"/>
                </a:solidFill>
                <a:latin typeface="Aptos" pitchFamily="34" charset="0"/>
                <a:ea typeface="Aptos" pitchFamily="34" charset="-122"/>
                <a:cs typeface="Aptos" pitchFamily="34" charset="-120"/>
              </a:rPr>
              <a:t>What the system needs to deliver</a:t>
            </a:r>
            <a:endParaRPr lang="en-US" sz="2000" dirty="0"/>
          </a:p>
        </p:txBody>
      </p:sp>
      <p:sp>
        <p:nvSpPr>
          <p:cNvPr id="12" name="Shape 8"/>
          <p:cNvSpPr/>
          <p:nvPr/>
        </p:nvSpPr>
        <p:spPr>
          <a:xfrm>
            <a:off x="6240272" y="3781044"/>
            <a:ext cx="109728" cy="109728"/>
          </a:xfrm>
          <a:prstGeom prst="ellipse">
            <a:avLst/>
          </a:prstGeom>
          <a:solidFill>
            <a:srgbClr val="396CB8"/>
          </a:solidFill>
          <a:ln w="12700">
            <a:solidFill>
              <a:srgbClr val="396CB8"/>
            </a:solidFill>
            <a:prstDash val="solid"/>
          </a:ln>
        </p:spPr>
        <p:txBody>
          <a:bodyPr/>
          <a:lstStyle/>
          <a:p>
            <a:endParaRPr lang="en-US"/>
          </a:p>
        </p:txBody>
      </p:sp>
      <p:sp>
        <p:nvSpPr>
          <p:cNvPr id="13" name="Text 9"/>
          <p:cNvSpPr/>
          <p:nvPr/>
        </p:nvSpPr>
        <p:spPr>
          <a:xfrm>
            <a:off x="6473952" y="3520440"/>
            <a:ext cx="5166360" cy="621792"/>
          </a:xfrm>
          <a:prstGeom prst="rect">
            <a:avLst/>
          </a:prstGeom>
          <a:noFill/>
          <a:ln/>
        </p:spPr>
        <p:txBody>
          <a:bodyPr wrap="square" lIns="0" tIns="0" rIns="0" bIns="0" rtlCol="0" anchor="ctr">
            <a:normAutofit/>
          </a:bodyPr>
          <a:lstStyle/>
          <a:p>
            <a:r>
              <a:rPr lang="en-US" sz="1700" dirty="0">
                <a:solidFill>
                  <a:srgbClr val="1F2937"/>
                </a:solidFill>
                <a:latin typeface="Aptos" pitchFamily="34" charset="0"/>
                <a:ea typeface="Aptos" pitchFamily="34" charset="-122"/>
                <a:cs typeface="Aptos" pitchFamily="34" charset="-120"/>
              </a:rPr>
              <a:t>Secure access based on each person's responsibilities</a:t>
            </a:r>
            <a:endParaRPr lang="en-US" sz="1700" dirty="0"/>
          </a:p>
        </p:txBody>
      </p:sp>
      <p:sp>
        <p:nvSpPr>
          <p:cNvPr id="14" name="Shape 10"/>
          <p:cNvSpPr/>
          <p:nvPr/>
        </p:nvSpPr>
        <p:spPr>
          <a:xfrm>
            <a:off x="6235047" y="4178808"/>
            <a:ext cx="109728" cy="109728"/>
          </a:xfrm>
          <a:prstGeom prst="ellipse">
            <a:avLst/>
          </a:prstGeom>
          <a:solidFill>
            <a:srgbClr val="396CB8"/>
          </a:solidFill>
          <a:ln w="12700">
            <a:solidFill>
              <a:srgbClr val="396CB8"/>
            </a:solidFill>
            <a:prstDash val="solid"/>
          </a:ln>
        </p:spPr>
        <p:txBody>
          <a:bodyPr/>
          <a:lstStyle/>
          <a:p>
            <a:endParaRPr lang="en-US"/>
          </a:p>
        </p:txBody>
      </p:sp>
      <p:sp>
        <p:nvSpPr>
          <p:cNvPr id="15" name="Text 11"/>
          <p:cNvSpPr/>
          <p:nvPr/>
        </p:nvSpPr>
        <p:spPr>
          <a:xfrm>
            <a:off x="6473952" y="3904693"/>
            <a:ext cx="5166360" cy="621792"/>
          </a:xfrm>
          <a:prstGeom prst="rect">
            <a:avLst/>
          </a:prstGeom>
          <a:noFill/>
          <a:ln/>
        </p:spPr>
        <p:txBody>
          <a:bodyPr wrap="square" lIns="0" tIns="0" rIns="0" bIns="0" rtlCol="0" anchor="ctr">
            <a:normAutofit/>
          </a:bodyPr>
          <a:lstStyle/>
          <a:p>
            <a:r>
              <a:rPr lang="en-US" sz="1700" dirty="0">
                <a:solidFill>
                  <a:srgbClr val="1F2937"/>
                </a:solidFill>
                <a:latin typeface="Aptos" pitchFamily="34" charset="0"/>
                <a:ea typeface="Aptos" pitchFamily="34" charset="-122"/>
                <a:cs typeface="Aptos" pitchFamily="34" charset="-120"/>
              </a:rPr>
              <a:t>Reliable access from computers and mobile devices</a:t>
            </a:r>
            <a:endParaRPr lang="en-US" sz="1700" dirty="0"/>
          </a:p>
        </p:txBody>
      </p:sp>
      <p:sp>
        <p:nvSpPr>
          <p:cNvPr id="16" name="Shape 12"/>
          <p:cNvSpPr/>
          <p:nvPr/>
        </p:nvSpPr>
        <p:spPr>
          <a:xfrm>
            <a:off x="6242738" y="4573673"/>
            <a:ext cx="109728" cy="109728"/>
          </a:xfrm>
          <a:prstGeom prst="ellipse">
            <a:avLst/>
          </a:prstGeom>
          <a:solidFill>
            <a:srgbClr val="396CB8"/>
          </a:solidFill>
          <a:ln w="12700">
            <a:solidFill>
              <a:srgbClr val="396CB8"/>
            </a:solidFill>
            <a:prstDash val="solid"/>
          </a:ln>
        </p:spPr>
        <p:txBody>
          <a:bodyPr/>
          <a:lstStyle/>
          <a:p>
            <a:endParaRPr lang="en-US"/>
          </a:p>
        </p:txBody>
      </p:sp>
      <p:sp>
        <p:nvSpPr>
          <p:cNvPr id="17" name="Text 13"/>
          <p:cNvSpPr/>
          <p:nvPr/>
        </p:nvSpPr>
        <p:spPr>
          <a:xfrm>
            <a:off x="6473952" y="4400887"/>
            <a:ext cx="5166360" cy="621792"/>
          </a:xfrm>
          <a:prstGeom prst="rect">
            <a:avLst/>
          </a:prstGeom>
          <a:noFill/>
          <a:ln/>
        </p:spPr>
        <p:txBody>
          <a:bodyPr wrap="square" lIns="0" tIns="0" rIns="0" bIns="0" rtlCol="0" anchor="ctr">
            <a:normAutofit/>
          </a:bodyPr>
          <a:lstStyle/>
          <a:p>
            <a:r>
              <a:rPr lang="en-US" sz="1700" dirty="0">
                <a:solidFill>
                  <a:srgbClr val="1F2937"/>
                </a:solidFill>
                <a:latin typeface="Aptos" pitchFamily="34" charset="0"/>
                <a:ea typeface="Aptos" pitchFamily="34" charset="-122"/>
                <a:cs typeface="Aptos" pitchFamily="34" charset="-120"/>
              </a:rPr>
              <a:t>Accurate, up to date information </a:t>
            </a:r>
            <a:br>
              <a:rPr lang="en-US" sz="1700" dirty="0">
                <a:solidFill>
                  <a:srgbClr val="1F2937"/>
                </a:solidFill>
                <a:latin typeface="Aptos" pitchFamily="34" charset="0"/>
                <a:ea typeface="Aptos" pitchFamily="34" charset="-122"/>
                <a:cs typeface="Aptos" pitchFamily="34" charset="-120"/>
              </a:rPr>
            </a:br>
            <a:r>
              <a:rPr lang="en-US" sz="1700" dirty="0">
                <a:solidFill>
                  <a:srgbClr val="1F2937"/>
                </a:solidFill>
                <a:latin typeface="Aptos" pitchFamily="34" charset="0"/>
                <a:ea typeface="Aptos" pitchFamily="34" charset="-122"/>
                <a:cs typeface="Aptos" pitchFamily="34" charset="-120"/>
              </a:rPr>
              <a:t>with downloadable reports</a:t>
            </a:r>
            <a:endParaRPr lang="en-US" sz="1700" dirty="0"/>
          </a:p>
        </p:txBody>
      </p:sp>
      <p:sp>
        <p:nvSpPr>
          <p:cNvPr id="18" name="TextBox 17">
            <a:extLst>
              <a:ext uri="{FF2B5EF4-FFF2-40B4-BE49-F238E27FC236}">
                <a16:creationId xmlns:a16="http://schemas.microsoft.com/office/drawing/2014/main" id="{984EF78E-F4EA-CEC6-C0A5-793E4695F7EC}"/>
              </a:ext>
            </a:extLst>
          </p:cNvPr>
          <p:cNvSpPr txBox="1"/>
          <p:nvPr/>
        </p:nvSpPr>
        <p:spPr>
          <a:xfrm>
            <a:off x="6350000" y="2530664"/>
            <a:ext cx="6155196" cy="646331"/>
          </a:xfrm>
          <a:prstGeom prst="rect">
            <a:avLst/>
          </a:prstGeom>
          <a:noFill/>
        </p:spPr>
        <p:txBody>
          <a:bodyPr wrap="square">
            <a:spAutoFit/>
          </a:bodyPr>
          <a:lstStyle/>
          <a:p>
            <a:r>
              <a:rPr lang="en-US" dirty="0"/>
              <a:t>Keep customer progress, training packages, </a:t>
            </a:r>
            <a:br>
              <a:rPr lang="en-US" dirty="0"/>
            </a:br>
            <a:r>
              <a:rPr lang="en-US" dirty="0"/>
              <a:t>and business records organized</a:t>
            </a:r>
          </a:p>
        </p:txBody>
      </p:sp>
      <p:sp>
        <p:nvSpPr>
          <p:cNvPr id="20" name="Shape 5">
            <a:extLst>
              <a:ext uri="{FF2B5EF4-FFF2-40B4-BE49-F238E27FC236}">
                <a16:creationId xmlns:a16="http://schemas.microsoft.com/office/drawing/2014/main" id="{7B57C472-0B7A-B123-3573-F8D791C00CB0}"/>
              </a:ext>
            </a:extLst>
          </p:cNvPr>
          <p:cNvSpPr/>
          <p:nvPr/>
        </p:nvSpPr>
        <p:spPr>
          <a:xfrm>
            <a:off x="6240272" y="2814198"/>
            <a:ext cx="109728" cy="109728"/>
          </a:xfrm>
          <a:prstGeom prst="ellipse">
            <a:avLst/>
          </a:prstGeom>
          <a:solidFill>
            <a:srgbClr val="396CB8"/>
          </a:solidFill>
          <a:ln w="12700">
            <a:solidFill>
              <a:srgbClr val="396CB8"/>
            </a:solidFill>
            <a:prstDash val="solid"/>
          </a:ln>
        </p:spPr>
        <p:txBody>
          <a:bodyPr/>
          <a:lstStyle/>
          <a:p>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pic>
        <p:nvPicPr>
          <p:cNvPr id="2" name="Image 0" descr="/mnt/data/driverpass_assets/blue_image2.png"/>
          <p:cNvPicPr>
            <a:picLocks noChangeAspect="1"/>
          </p:cNvPicPr>
          <p:nvPr/>
        </p:nvPicPr>
        <p:blipFill>
          <a:blip r:embed="rId3"/>
          <a:stretch>
            <a:fillRect/>
          </a:stretch>
        </p:blipFill>
        <p:spPr>
          <a:xfrm>
            <a:off x="0" y="0"/>
            <a:ext cx="12191970" cy="6858000"/>
          </a:xfrm>
          <a:prstGeom prst="rect">
            <a:avLst/>
          </a:prstGeom>
        </p:spPr>
      </p:pic>
      <p:sp>
        <p:nvSpPr>
          <p:cNvPr id="3" name="Text 0"/>
          <p:cNvSpPr/>
          <p:nvPr/>
        </p:nvSpPr>
        <p:spPr>
          <a:xfrm>
            <a:off x="713232" y="2331720"/>
            <a:ext cx="4023360" cy="2103120"/>
          </a:xfrm>
          <a:prstGeom prst="rect">
            <a:avLst/>
          </a:prstGeom>
          <a:noFill/>
          <a:ln/>
        </p:spPr>
        <p:txBody>
          <a:bodyPr wrap="square" lIns="0" tIns="0" rIns="0" bIns="0" rtlCol="0" anchor="ctr">
            <a:normAutofit/>
          </a:bodyPr>
          <a:lstStyle/>
          <a:p>
            <a:pPr marL="0" indent="0">
              <a:buNone/>
            </a:pPr>
            <a:r>
              <a:rPr lang="en-US" sz="4400" dirty="0">
                <a:solidFill>
                  <a:srgbClr val="FFFFFF"/>
                </a:solidFill>
                <a:latin typeface="Aptos Display" pitchFamily="34" charset="0"/>
                <a:ea typeface="Aptos Display" pitchFamily="34" charset="-122"/>
                <a:cs typeface="Aptos Display" pitchFamily="34" charset="-120"/>
              </a:rPr>
              <a:t>Use Case</a:t>
            </a:r>
            <a:endParaRPr lang="en-US" sz="4400" dirty="0"/>
          </a:p>
          <a:p>
            <a:pPr marL="0" indent="0">
              <a:buNone/>
            </a:pPr>
            <a:r>
              <a:rPr lang="en-US" sz="4400" dirty="0">
                <a:solidFill>
                  <a:srgbClr val="FFFFFF"/>
                </a:solidFill>
                <a:latin typeface="Aptos Display" pitchFamily="34" charset="0"/>
                <a:ea typeface="Aptos Display" pitchFamily="34" charset="-122"/>
                <a:cs typeface="Aptos Display" pitchFamily="34" charset="-120"/>
              </a:rPr>
              <a:t>Diagram</a:t>
            </a:r>
            <a:endParaRPr lang="en-US" sz="4400" dirty="0"/>
          </a:p>
        </p:txBody>
      </p:sp>
      <p:sp>
        <p:nvSpPr>
          <p:cNvPr id="4" name="Text 1"/>
          <p:cNvSpPr/>
          <p:nvPr/>
        </p:nvSpPr>
        <p:spPr>
          <a:xfrm>
            <a:off x="11567160" y="6473952"/>
            <a:ext cx="320040" cy="201168"/>
          </a:xfrm>
          <a:prstGeom prst="rect">
            <a:avLst/>
          </a:prstGeom>
          <a:noFill/>
          <a:ln/>
        </p:spPr>
        <p:txBody>
          <a:bodyPr wrap="square" lIns="0" tIns="0" rIns="0" bIns="0" rtlCol="0" anchor="ctr"/>
          <a:lstStyle/>
          <a:p>
            <a:pPr marL="0" indent="0" algn="r">
              <a:buNone/>
            </a:pPr>
            <a:r>
              <a:rPr lang="en-US" sz="1000" dirty="0">
                <a:solidFill>
                  <a:srgbClr val="888888"/>
                </a:solidFill>
              </a:rPr>
              <a:t>3</a:t>
            </a:r>
            <a:endParaRPr lang="en-US" sz="1000" dirty="0"/>
          </a:p>
        </p:txBody>
      </p:sp>
      <p:pic>
        <p:nvPicPr>
          <p:cNvPr id="7" name="Image 1" descr="/mnt/data/driverpass_assets/image3.png"/>
          <p:cNvPicPr>
            <a:picLocks noChangeAspect="1"/>
          </p:cNvPicPr>
          <p:nvPr/>
        </p:nvPicPr>
        <p:blipFill>
          <a:blip r:embed="rId4"/>
          <a:stretch>
            <a:fillRect/>
          </a:stretch>
        </p:blipFill>
        <p:spPr>
          <a:xfrm>
            <a:off x="5318071" y="770004"/>
            <a:ext cx="6873929" cy="4773885"/>
          </a:xfrm>
          <a:prstGeom prst="rect">
            <a:avLst/>
          </a:prstGeom>
        </p:spPr>
      </p:pic>
      <p:sp>
        <p:nvSpPr>
          <p:cNvPr id="8" name="Text 3"/>
          <p:cNvSpPr/>
          <p:nvPr/>
        </p:nvSpPr>
        <p:spPr>
          <a:xfrm>
            <a:off x="6126480" y="6080760"/>
            <a:ext cx="5577840" cy="320040"/>
          </a:xfrm>
          <a:prstGeom prst="rect">
            <a:avLst/>
          </a:prstGeom>
          <a:noFill/>
          <a:ln/>
        </p:spPr>
        <p:txBody>
          <a:bodyPr wrap="square" lIns="0" tIns="0" rIns="0" bIns="0" rtlCol="0" anchor="ctr"/>
          <a:lstStyle/>
          <a:p>
            <a:pPr algn="ctr"/>
            <a:r>
              <a:rPr lang="en-US" sz="1500" dirty="0">
                <a:solidFill>
                  <a:srgbClr val="243A62"/>
                </a:solidFill>
              </a:rPr>
              <a:t>One connected system, with responsibilities tailored to each user</a:t>
            </a:r>
            <a:endParaRPr lang="en-US" sz="1500" dirty="0"/>
          </a:p>
        </p:txBody>
      </p:sp>
      <p:pic>
        <p:nvPicPr>
          <p:cNvPr id="11" name="Picture 10">
            <a:extLst>
              <a:ext uri="{FF2B5EF4-FFF2-40B4-BE49-F238E27FC236}">
                <a16:creationId xmlns:a16="http://schemas.microsoft.com/office/drawing/2014/main" id="{D05AC8E9-C5BA-5FC6-0D79-79375B0F66DB}"/>
              </a:ext>
            </a:extLst>
          </p:cNvPr>
          <p:cNvPicPr>
            <a:picLocks noChangeAspect="1"/>
          </p:cNvPicPr>
          <p:nvPr/>
        </p:nvPicPr>
        <p:blipFill>
          <a:blip r:embed="rId5"/>
          <a:stretch>
            <a:fillRect/>
          </a:stretch>
        </p:blipFill>
        <p:spPr>
          <a:xfrm>
            <a:off x="6095985" y="457200"/>
            <a:ext cx="5578323" cy="40237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2" name="Image 0" descr="/mnt/data/driverpass_assets/blue_image2.png"/>
          <p:cNvPicPr>
            <a:picLocks noChangeAspect="1"/>
          </p:cNvPicPr>
          <p:nvPr/>
        </p:nvPicPr>
        <p:blipFill>
          <a:blip r:embed="rId3"/>
          <a:stretch>
            <a:fillRect/>
          </a:stretch>
        </p:blipFill>
        <p:spPr>
          <a:xfrm>
            <a:off x="0" y="0"/>
            <a:ext cx="12191970" cy="6858000"/>
          </a:xfrm>
          <a:prstGeom prst="rect">
            <a:avLst/>
          </a:prstGeom>
        </p:spPr>
      </p:pic>
      <p:sp>
        <p:nvSpPr>
          <p:cNvPr id="3" name="Text 0"/>
          <p:cNvSpPr/>
          <p:nvPr/>
        </p:nvSpPr>
        <p:spPr>
          <a:xfrm>
            <a:off x="713232" y="2331720"/>
            <a:ext cx="4023360" cy="2103120"/>
          </a:xfrm>
          <a:prstGeom prst="rect">
            <a:avLst/>
          </a:prstGeom>
          <a:noFill/>
          <a:ln/>
        </p:spPr>
        <p:txBody>
          <a:bodyPr wrap="square" lIns="0" tIns="0" rIns="0" bIns="0" rtlCol="0" anchor="ctr">
            <a:normAutofit/>
          </a:bodyPr>
          <a:lstStyle/>
          <a:p>
            <a:pPr marL="0" indent="0">
              <a:buNone/>
            </a:pPr>
            <a:r>
              <a:rPr lang="en-US" sz="4400" dirty="0">
                <a:solidFill>
                  <a:srgbClr val="FFFFFF"/>
                </a:solidFill>
                <a:latin typeface="Aptos Display" pitchFamily="34" charset="0"/>
                <a:ea typeface="Aptos Display" pitchFamily="34" charset="-122"/>
                <a:cs typeface="Aptos Display" pitchFamily="34" charset="-120"/>
              </a:rPr>
              <a:t>Activity</a:t>
            </a:r>
            <a:endParaRPr lang="en-US" sz="4400" dirty="0"/>
          </a:p>
          <a:p>
            <a:pPr marL="0" indent="0">
              <a:buNone/>
            </a:pPr>
            <a:r>
              <a:rPr lang="en-US" sz="4400" dirty="0">
                <a:solidFill>
                  <a:srgbClr val="FFFFFF"/>
                </a:solidFill>
                <a:latin typeface="Aptos Display" pitchFamily="34" charset="0"/>
                <a:ea typeface="Aptos Display" pitchFamily="34" charset="-122"/>
                <a:cs typeface="Aptos Display" pitchFamily="34" charset="-120"/>
              </a:rPr>
              <a:t>Diagram</a:t>
            </a:r>
            <a:endParaRPr lang="en-US" sz="4400" dirty="0"/>
          </a:p>
        </p:txBody>
      </p:sp>
      <p:sp>
        <p:nvSpPr>
          <p:cNvPr id="4" name="Text 1"/>
          <p:cNvSpPr/>
          <p:nvPr/>
        </p:nvSpPr>
        <p:spPr>
          <a:xfrm>
            <a:off x="11567160" y="6473952"/>
            <a:ext cx="320040" cy="201168"/>
          </a:xfrm>
          <a:prstGeom prst="rect">
            <a:avLst/>
          </a:prstGeom>
          <a:noFill/>
          <a:ln/>
        </p:spPr>
        <p:txBody>
          <a:bodyPr wrap="square" lIns="0" tIns="0" rIns="0" bIns="0" rtlCol="0" anchor="ctr"/>
          <a:lstStyle/>
          <a:p>
            <a:pPr marL="0" indent="0" algn="r">
              <a:buNone/>
            </a:pPr>
            <a:r>
              <a:rPr lang="en-US" sz="1000" dirty="0">
                <a:solidFill>
                  <a:srgbClr val="888888"/>
                </a:solidFill>
              </a:rPr>
              <a:t>4</a:t>
            </a:r>
            <a:endParaRPr lang="en-US" sz="1000" dirty="0"/>
          </a:p>
        </p:txBody>
      </p:sp>
      <p:pic>
        <p:nvPicPr>
          <p:cNvPr id="7" name="Image 1" descr="/mnt/data/driverpass_assets/image5.png"/>
          <p:cNvPicPr>
            <a:picLocks noChangeAspect="1"/>
          </p:cNvPicPr>
          <p:nvPr/>
        </p:nvPicPr>
        <p:blipFill>
          <a:blip r:embed="rId4"/>
          <a:stretch>
            <a:fillRect/>
          </a:stretch>
        </p:blipFill>
        <p:spPr>
          <a:xfrm>
            <a:off x="5677242" y="409202"/>
            <a:ext cx="6184140" cy="5762998"/>
          </a:xfrm>
          <a:prstGeom prst="rect">
            <a:avLst/>
          </a:prstGeom>
        </p:spPr>
      </p:pic>
      <p:sp>
        <p:nvSpPr>
          <p:cNvPr id="8" name="Text 3"/>
          <p:cNvSpPr/>
          <p:nvPr/>
        </p:nvSpPr>
        <p:spPr>
          <a:xfrm>
            <a:off x="6172200" y="6355080"/>
            <a:ext cx="5349240" cy="237744"/>
          </a:xfrm>
          <a:prstGeom prst="rect">
            <a:avLst/>
          </a:prstGeom>
          <a:noFill/>
          <a:ln/>
        </p:spPr>
        <p:txBody>
          <a:bodyPr wrap="square" lIns="0" tIns="0" rIns="0" bIns="0" rtlCol="0" anchor="ctr"/>
          <a:lstStyle/>
          <a:p>
            <a:pPr algn="ctr"/>
            <a:r>
              <a:rPr lang="en-US" sz="1400" dirty="0">
                <a:solidFill>
                  <a:srgbClr val="243A62"/>
                </a:solidFill>
              </a:rPr>
              <a:t>From requesting a lesson to confirming an appointment, the system checks availability before committing to a reservation</a:t>
            </a:r>
            <a:endParaRPr lang="en-US" sz="1400" dirty="0"/>
          </a:p>
        </p:txBody>
      </p:sp>
      <p:pic>
        <p:nvPicPr>
          <p:cNvPr id="9" name="Picture 8">
            <a:extLst>
              <a:ext uri="{FF2B5EF4-FFF2-40B4-BE49-F238E27FC236}">
                <a16:creationId xmlns:a16="http://schemas.microsoft.com/office/drawing/2014/main" id="{163F0D50-DE05-ECFC-044C-1004817C94E9}"/>
              </a:ext>
            </a:extLst>
          </p:cNvPr>
          <p:cNvPicPr>
            <a:picLocks noChangeAspect="1"/>
          </p:cNvPicPr>
          <p:nvPr/>
        </p:nvPicPr>
        <p:blipFill>
          <a:blip r:embed="rId5"/>
          <a:stretch>
            <a:fillRect/>
          </a:stretch>
        </p:blipFill>
        <p:spPr>
          <a:xfrm>
            <a:off x="6095985" y="94750"/>
            <a:ext cx="5346655" cy="37798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2" name="Image 0" descr="/mnt/data/driverpass_assets/blue_image2.png"/>
          <p:cNvPicPr>
            <a:picLocks noChangeAspect="1"/>
          </p:cNvPicPr>
          <p:nvPr/>
        </p:nvPicPr>
        <p:blipFill>
          <a:blip r:embed="rId3"/>
          <a:stretch>
            <a:fillRect/>
          </a:stretch>
        </p:blipFill>
        <p:spPr>
          <a:xfrm>
            <a:off x="0" y="0"/>
            <a:ext cx="12191970" cy="6858000"/>
          </a:xfrm>
          <a:prstGeom prst="rect">
            <a:avLst/>
          </a:prstGeom>
        </p:spPr>
      </p:pic>
      <p:sp>
        <p:nvSpPr>
          <p:cNvPr id="3" name="Text 0"/>
          <p:cNvSpPr/>
          <p:nvPr/>
        </p:nvSpPr>
        <p:spPr>
          <a:xfrm>
            <a:off x="713232" y="2331720"/>
            <a:ext cx="4023360" cy="2103120"/>
          </a:xfrm>
          <a:prstGeom prst="rect">
            <a:avLst/>
          </a:prstGeom>
          <a:noFill/>
          <a:ln/>
        </p:spPr>
        <p:txBody>
          <a:bodyPr wrap="square" lIns="0" tIns="0" rIns="0" bIns="0" rtlCol="0" anchor="ctr">
            <a:normAutofit/>
          </a:bodyPr>
          <a:lstStyle/>
          <a:p>
            <a:pPr marL="0" indent="0">
              <a:buNone/>
            </a:pPr>
            <a:r>
              <a:rPr lang="en-US" sz="4400" dirty="0">
                <a:solidFill>
                  <a:srgbClr val="FFFFFF"/>
                </a:solidFill>
                <a:latin typeface="Aptos Display" pitchFamily="34" charset="0"/>
                <a:ea typeface="Aptos Display" pitchFamily="34" charset="-122"/>
                <a:cs typeface="Aptos Display" pitchFamily="34" charset="-120"/>
              </a:rPr>
              <a:t>Security</a:t>
            </a:r>
            <a:endParaRPr lang="en-US" sz="4400" dirty="0"/>
          </a:p>
        </p:txBody>
      </p:sp>
      <p:sp>
        <p:nvSpPr>
          <p:cNvPr id="4" name="Text 1"/>
          <p:cNvSpPr/>
          <p:nvPr/>
        </p:nvSpPr>
        <p:spPr>
          <a:xfrm>
            <a:off x="11567160" y="6473952"/>
            <a:ext cx="320040" cy="201168"/>
          </a:xfrm>
          <a:prstGeom prst="rect">
            <a:avLst/>
          </a:prstGeom>
          <a:noFill/>
          <a:ln/>
        </p:spPr>
        <p:txBody>
          <a:bodyPr wrap="square" lIns="0" tIns="0" rIns="0" bIns="0" rtlCol="0" anchor="ctr"/>
          <a:lstStyle/>
          <a:p>
            <a:pPr marL="0" indent="0" algn="r">
              <a:buNone/>
            </a:pPr>
            <a:r>
              <a:rPr lang="en-US" sz="1000" dirty="0">
                <a:solidFill>
                  <a:srgbClr val="888888"/>
                </a:solidFill>
              </a:rPr>
              <a:t>5</a:t>
            </a:r>
            <a:endParaRPr lang="en-US" sz="1000" dirty="0"/>
          </a:p>
        </p:txBody>
      </p:sp>
      <p:sp>
        <p:nvSpPr>
          <p:cNvPr id="6" name="Text 2"/>
          <p:cNvSpPr/>
          <p:nvPr/>
        </p:nvSpPr>
        <p:spPr>
          <a:xfrm>
            <a:off x="6172200" y="868680"/>
            <a:ext cx="5394960" cy="310896"/>
          </a:xfrm>
          <a:prstGeom prst="rect">
            <a:avLst/>
          </a:prstGeom>
          <a:noFill/>
          <a:ln/>
        </p:spPr>
        <p:txBody>
          <a:bodyPr wrap="square" lIns="0" tIns="0" rIns="0" bIns="0" rtlCol="0" anchor="ctr"/>
          <a:lstStyle/>
          <a:p>
            <a:r>
              <a:rPr lang="en-US" sz="2000" b="1" dirty="0">
                <a:solidFill>
                  <a:srgbClr val="243A62"/>
                </a:solidFill>
                <a:latin typeface="Aptos" pitchFamily="34" charset="0"/>
                <a:ea typeface="Aptos" pitchFamily="34" charset="-122"/>
                <a:cs typeface="Aptos" pitchFamily="34" charset="-120"/>
              </a:rPr>
              <a:t>Protecting Your Customers and Your Business</a:t>
            </a:r>
            <a:endParaRPr lang="en-US" sz="2000" dirty="0"/>
          </a:p>
        </p:txBody>
      </p:sp>
      <p:sp>
        <p:nvSpPr>
          <p:cNvPr id="7" name="Shape 3"/>
          <p:cNvSpPr/>
          <p:nvPr/>
        </p:nvSpPr>
        <p:spPr>
          <a:xfrm>
            <a:off x="6217920" y="1746359"/>
            <a:ext cx="109728" cy="109728"/>
          </a:xfrm>
          <a:prstGeom prst="ellipse">
            <a:avLst/>
          </a:prstGeom>
          <a:solidFill>
            <a:srgbClr val="396CB8"/>
          </a:solidFill>
          <a:ln w="12700">
            <a:solidFill>
              <a:srgbClr val="396CB8"/>
            </a:solidFill>
            <a:prstDash val="solid"/>
          </a:ln>
        </p:spPr>
        <p:txBody>
          <a:bodyPr/>
          <a:lstStyle/>
          <a:p>
            <a:endParaRPr lang="en-US"/>
          </a:p>
        </p:txBody>
      </p:sp>
      <p:sp>
        <p:nvSpPr>
          <p:cNvPr id="8" name="Text 4"/>
          <p:cNvSpPr/>
          <p:nvPr/>
        </p:nvSpPr>
        <p:spPr>
          <a:xfrm>
            <a:off x="6473952" y="1463040"/>
            <a:ext cx="5166360" cy="667512"/>
          </a:xfrm>
          <a:prstGeom prst="rect">
            <a:avLst/>
          </a:prstGeom>
          <a:noFill/>
          <a:ln/>
        </p:spPr>
        <p:txBody>
          <a:bodyPr wrap="square" lIns="0" tIns="0" rIns="0" bIns="0" rtlCol="0" anchor="ctr">
            <a:normAutofit/>
          </a:bodyPr>
          <a:lstStyle/>
          <a:p>
            <a:r>
              <a:rPr lang="en-US" sz="1700" dirty="0">
                <a:solidFill>
                  <a:srgbClr val="1F2937"/>
                </a:solidFill>
                <a:latin typeface="Aptos" pitchFamily="34" charset="0"/>
                <a:ea typeface="Aptos" pitchFamily="34" charset="-122"/>
                <a:cs typeface="Aptos" pitchFamily="34" charset="-120"/>
              </a:rPr>
              <a:t>Individual accounts with access based on job responsibilities</a:t>
            </a:r>
            <a:endParaRPr lang="en-US" sz="1700" dirty="0"/>
          </a:p>
        </p:txBody>
      </p:sp>
      <p:sp>
        <p:nvSpPr>
          <p:cNvPr id="9" name="Shape 5"/>
          <p:cNvSpPr/>
          <p:nvPr/>
        </p:nvSpPr>
        <p:spPr>
          <a:xfrm>
            <a:off x="6217920" y="2450447"/>
            <a:ext cx="109728" cy="109728"/>
          </a:xfrm>
          <a:prstGeom prst="ellipse">
            <a:avLst/>
          </a:prstGeom>
          <a:solidFill>
            <a:srgbClr val="396CB8"/>
          </a:solidFill>
          <a:ln w="12700">
            <a:solidFill>
              <a:srgbClr val="396CB8"/>
            </a:solidFill>
            <a:prstDash val="solid"/>
          </a:ln>
        </p:spPr>
        <p:txBody>
          <a:bodyPr/>
          <a:lstStyle/>
          <a:p>
            <a:endParaRPr lang="en-US"/>
          </a:p>
        </p:txBody>
      </p:sp>
      <p:sp>
        <p:nvSpPr>
          <p:cNvPr id="10" name="Text 6"/>
          <p:cNvSpPr/>
          <p:nvPr/>
        </p:nvSpPr>
        <p:spPr>
          <a:xfrm>
            <a:off x="6473952" y="2167128"/>
            <a:ext cx="5166360" cy="667512"/>
          </a:xfrm>
          <a:prstGeom prst="rect">
            <a:avLst/>
          </a:prstGeom>
          <a:noFill/>
          <a:ln/>
        </p:spPr>
        <p:txBody>
          <a:bodyPr wrap="square" lIns="0" tIns="0" rIns="0" bIns="0" rtlCol="0" anchor="ctr">
            <a:normAutofit/>
          </a:bodyPr>
          <a:lstStyle/>
          <a:p>
            <a:r>
              <a:rPr lang="en-US" sz="1700" dirty="0">
                <a:solidFill>
                  <a:srgbClr val="1F2937"/>
                </a:solidFill>
                <a:latin typeface="Aptos" pitchFamily="34" charset="0"/>
                <a:ea typeface="Aptos" pitchFamily="34" charset="-122"/>
                <a:cs typeface="Aptos" pitchFamily="34" charset="-120"/>
              </a:rPr>
              <a:t>Secure customer sign in and account recovery</a:t>
            </a:r>
            <a:endParaRPr lang="en-US" sz="1700" dirty="0"/>
          </a:p>
        </p:txBody>
      </p:sp>
      <p:sp>
        <p:nvSpPr>
          <p:cNvPr id="11" name="Shape 7"/>
          <p:cNvSpPr/>
          <p:nvPr/>
        </p:nvSpPr>
        <p:spPr>
          <a:xfrm>
            <a:off x="6217920" y="3150108"/>
            <a:ext cx="109728" cy="109728"/>
          </a:xfrm>
          <a:prstGeom prst="ellipse">
            <a:avLst/>
          </a:prstGeom>
          <a:solidFill>
            <a:srgbClr val="396CB8"/>
          </a:solidFill>
          <a:ln w="12700">
            <a:solidFill>
              <a:srgbClr val="396CB8"/>
            </a:solidFill>
            <a:prstDash val="solid"/>
          </a:ln>
        </p:spPr>
        <p:txBody>
          <a:bodyPr/>
          <a:lstStyle/>
          <a:p>
            <a:endParaRPr lang="en-US"/>
          </a:p>
        </p:txBody>
      </p:sp>
      <p:sp>
        <p:nvSpPr>
          <p:cNvPr id="12" name="Text 8"/>
          <p:cNvSpPr/>
          <p:nvPr/>
        </p:nvSpPr>
        <p:spPr>
          <a:xfrm>
            <a:off x="6473952" y="2871216"/>
            <a:ext cx="5166360" cy="667512"/>
          </a:xfrm>
          <a:prstGeom prst="rect">
            <a:avLst/>
          </a:prstGeom>
          <a:noFill/>
          <a:ln/>
        </p:spPr>
        <p:txBody>
          <a:bodyPr wrap="square" lIns="0" tIns="0" rIns="0" bIns="0" rtlCol="0" anchor="ctr">
            <a:normAutofit/>
          </a:bodyPr>
          <a:lstStyle/>
          <a:p>
            <a:pPr marL="0" indent="0">
              <a:buNone/>
            </a:pPr>
            <a:r>
              <a:rPr lang="en-US" sz="1700" dirty="0">
                <a:solidFill>
                  <a:srgbClr val="1F2937"/>
                </a:solidFill>
                <a:latin typeface="Aptos" pitchFamily="34" charset="0"/>
                <a:ea typeface="Aptos" pitchFamily="34" charset="-122"/>
                <a:cs typeface="Aptos" pitchFamily="34" charset="-120"/>
              </a:rPr>
              <a:t>Protection against repeated failed sign ins</a:t>
            </a:r>
            <a:endParaRPr lang="en-US" sz="1700" dirty="0"/>
          </a:p>
        </p:txBody>
      </p:sp>
      <p:sp>
        <p:nvSpPr>
          <p:cNvPr id="13" name="Shape 9"/>
          <p:cNvSpPr/>
          <p:nvPr/>
        </p:nvSpPr>
        <p:spPr>
          <a:xfrm>
            <a:off x="6217920" y="3849769"/>
            <a:ext cx="109728" cy="109728"/>
          </a:xfrm>
          <a:prstGeom prst="ellipse">
            <a:avLst/>
          </a:prstGeom>
          <a:solidFill>
            <a:srgbClr val="396CB8"/>
          </a:solidFill>
          <a:ln w="12700">
            <a:solidFill>
              <a:srgbClr val="396CB8"/>
            </a:solidFill>
            <a:prstDash val="solid"/>
          </a:ln>
        </p:spPr>
        <p:txBody>
          <a:bodyPr/>
          <a:lstStyle/>
          <a:p>
            <a:endParaRPr lang="en-US"/>
          </a:p>
        </p:txBody>
      </p:sp>
      <p:sp>
        <p:nvSpPr>
          <p:cNvPr id="14" name="Text 10"/>
          <p:cNvSpPr/>
          <p:nvPr/>
        </p:nvSpPr>
        <p:spPr>
          <a:xfrm>
            <a:off x="6473952" y="3575304"/>
            <a:ext cx="5166360" cy="667512"/>
          </a:xfrm>
          <a:prstGeom prst="rect">
            <a:avLst/>
          </a:prstGeom>
          <a:noFill/>
          <a:ln/>
        </p:spPr>
        <p:txBody>
          <a:bodyPr wrap="square" lIns="0" tIns="0" rIns="0" bIns="0" rtlCol="0" anchor="ctr">
            <a:normAutofit/>
          </a:bodyPr>
          <a:lstStyle/>
          <a:p>
            <a:r>
              <a:rPr lang="en-US" sz="1700" dirty="0">
                <a:solidFill>
                  <a:srgbClr val="1F2937"/>
                </a:solidFill>
                <a:latin typeface="Aptos" pitchFamily="34" charset="0"/>
                <a:ea typeface="Aptos" pitchFamily="34" charset="-122"/>
                <a:cs typeface="Aptos" pitchFamily="34" charset="-120"/>
              </a:rPr>
              <a:t>Protected customer information and payment processing</a:t>
            </a:r>
            <a:endParaRPr lang="en-US" sz="1700" dirty="0"/>
          </a:p>
        </p:txBody>
      </p:sp>
      <p:sp>
        <p:nvSpPr>
          <p:cNvPr id="15" name="Shape 11"/>
          <p:cNvSpPr/>
          <p:nvPr/>
        </p:nvSpPr>
        <p:spPr>
          <a:xfrm>
            <a:off x="6217920" y="4564670"/>
            <a:ext cx="109728" cy="109728"/>
          </a:xfrm>
          <a:prstGeom prst="ellipse">
            <a:avLst/>
          </a:prstGeom>
          <a:solidFill>
            <a:srgbClr val="396CB8"/>
          </a:solidFill>
          <a:ln w="12700">
            <a:solidFill>
              <a:srgbClr val="396CB8"/>
            </a:solidFill>
            <a:prstDash val="solid"/>
          </a:ln>
        </p:spPr>
        <p:txBody>
          <a:bodyPr/>
          <a:lstStyle/>
          <a:p>
            <a:endParaRPr lang="en-US"/>
          </a:p>
        </p:txBody>
      </p:sp>
      <p:sp>
        <p:nvSpPr>
          <p:cNvPr id="16" name="Text 12"/>
          <p:cNvSpPr/>
          <p:nvPr/>
        </p:nvSpPr>
        <p:spPr>
          <a:xfrm>
            <a:off x="6473952" y="4279392"/>
            <a:ext cx="5166360" cy="667512"/>
          </a:xfrm>
          <a:prstGeom prst="rect">
            <a:avLst/>
          </a:prstGeom>
          <a:noFill/>
          <a:ln/>
        </p:spPr>
        <p:txBody>
          <a:bodyPr wrap="square" lIns="0" tIns="0" rIns="0" bIns="0" rtlCol="0" anchor="ctr">
            <a:normAutofit/>
          </a:bodyPr>
          <a:lstStyle/>
          <a:p>
            <a:r>
              <a:rPr lang="en-US" sz="1700" dirty="0">
                <a:solidFill>
                  <a:srgbClr val="1F2937"/>
                </a:solidFill>
                <a:latin typeface="Aptos" pitchFamily="34" charset="0"/>
                <a:ea typeface="Aptos" pitchFamily="34" charset="-122"/>
                <a:cs typeface="Aptos" pitchFamily="34" charset="-120"/>
              </a:rPr>
              <a:t>A record of who creates, changes, or cancels appointments</a:t>
            </a:r>
            <a:endParaRPr lang="en-US" sz="1700" dirty="0"/>
          </a:p>
        </p:txBody>
      </p:sp>
      <p:sp>
        <p:nvSpPr>
          <p:cNvPr id="17" name="Shape 13"/>
          <p:cNvSpPr/>
          <p:nvPr/>
        </p:nvSpPr>
        <p:spPr>
          <a:xfrm>
            <a:off x="6213275" y="5279571"/>
            <a:ext cx="109728" cy="109728"/>
          </a:xfrm>
          <a:prstGeom prst="ellipse">
            <a:avLst/>
          </a:prstGeom>
          <a:solidFill>
            <a:srgbClr val="396CB8"/>
          </a:solidFill>
          <a:ln w="12700">
            <a:solidFill>
              <a:srgbClr val="396CB8"/>
            </a:solidFill>
            <a:prstDash val="solid"/>
          </a:ln>
        </p:spPr>
        <p:txBody>
          <a:bodyPr/>
          <a:lstStyle/>
          <a:p>
            <a:endParaRPr lang="en-US"/>
          </a:p>
        </p:txBody>
      </p:sp>
      <p:sp>
        <p:nvSpPr>
          <p:cNvPr id="18" name="Text 14"/>
          <p:cNvSpPr/>
          <p:nvPr/>
        </p:nvSpPr>
        <p:spPr>
          <a:xfrm>
            <a:off x="6473952" y="4983480"/>
            <a:ext cx="5166360" cy="667512"/>
          </a:xfrm>
          <a:prstGeom prst="rect">
            <a:avLst/>
          </a:prstGeom>
          <a:noFill/>
          <a:ln/>
        </p:spPr>
        <p:txBody>
          <a:bodyPr wrap="square" lIns="0" tIns="0" rIns="0" bIns="0" rtlCol="0" anchor="ctr">
            <a:normAutofit/>
          </a:bodyPr>
          <a:lstStyle/>
          <a:p>
            <a:r>
              <a:rPr lang="en-US" sz="1700" dirty="0">
                <a:solidFill>
                  <a:srgbClr val="1F2937"/>
                </a:solidFill>
                <a:latin typeface="Aptos" pitchFamily="34" charset="0"/>
                <a:ea typeface="Aptos" pitchFamily="34" charset="-122"/>
                <a:cs typeface="Aptos" pitchFamily="34" charset="-120"/>
              </a:rPr>
              <a:t>Cloud-based backups and system monitoring</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pic>
        <p:nvPicPr>
          <p:cNvPr id="2" name="Image 0" descr="/mnt/data/driverpass_assets/blue_image2.png"/>
          <p:cNvPicPr>
            <a:picLocks noChangeAspect="1"/>
          </p:cNvPicPr>
          <p:nvPr/>
        </p:nvPicPr>
        <p:blipFill>
          <a:blip r:embed="rId3"/>
          <a:stretch>
            <a:fillRect/>
          </a:stretch>
        </p:blipFill>
        <p:spPr>
          <a:xfrm>
            <a:off x="0" y="0"/>
            <a:ext cx="12191970" cy="6858000"/>
          </a:xfrm>
          <a:prstGeom prst="rect">
            <a:avLst/>
          </a:prstGeom>
        </p:spPr>
      </p:pic>
      <p:sp>
        <p:nvSpPr>
          <p:cNvPr id="3" name="Text 0"/>
          <p:cNvSpPr/>
          <p:nvPr/>
        </p:nvSpPr>
        <p:spPr>
          <a:xfrm>
            <a:off x="713232" y="2331720"/>
            <a:ext cx="4023360" cy="2103120"/>
          </a:xfrm>
          <a:prstGeom prst="rect">
            <a:avLst/>
          </a:prstGeom>
          <a:noFill/>
          <a:ln/>
        </p:spPr>
        <p:txBody>
          <a:bodyPr wrap="square" lIns="0" tIns="0" rIns="0" bIns="0" rtlCol="0" anchor="ctr">
            <a:normAutofit/>
          </a:bodyPr>
          <a:lstStyle/>
          <a:p>
            <a:pPr marL="0" indent="0">
              <a:buNone/>
            </a:pPr>
            <a:r>
              <a:rPr lang="en-US" sz="4400" dirty="0">
                <a:solidFill>
                  <a:srgbClr val="FFFFFF"/>
                </a:solidFill>
                <a:latin typeface="Aptos Display" pitchFamily="34" charset="0"/>
                <a:ea typeface="Aptos Display" pitchFamily="34" charset="-122"/>
                <a:cs typeface="Aptos Display" pitchFamily="34" charset="-120"/>
              </a:rPr>
              <a:t>System</a:t>
            </a:r>
            <a:endParaRPr lang="en-US" sz="4400" dirty="0"/>
          </a:p>
          <a:p>
            <a:pPr marL="0" indent="0">
              <a:buNone/>
            </a:pPr>
            <a:r>
              <a:rPr lang="en-US" sz="4400" dirty="0">
                <a:solidFill>
                  <a:srgbClr val="FFFFFF"/>
                </a:solidFill>
                <a:latin typeface="Aptos Display" pitchFamily="34" charset="0"/>
                <a:ea typeface="Aptos Display" pitchFamily="34" charset="-122"/>
                <a:cs typeface="Aptos Display" pitchFamily="34" charset="-120"/>
              </a:rPr>
              <a:t>Limitations</a:t>
            </a:r>
            <a:endParaRPr lang="en-US" sz="4400" dirty="0"/>
          </a:p>
        </p:txBody>
      </p:sp>
      <p:sp>
        <p:nvSpPr>
          <p:cNvPr id="4" name="Text 1"/>
          <p:cNvSpPr/>
          <p:nvPr/>
        </p:nvSpPr>
        <p:spPr>
          <a:xfrm>
            <a:off x="11567160" y="6473952"/>
            <a:ext cx="320040" cy="201168"/>
          </a:xfrm>
          <a:prstGeom prst="rect">
            <a:avLst/>
          </a:prstGeom>
          <a:noFill/>
          <a:ln/>
        </p:spPr>
        <p:txBody>
          <a:bodyPr wrap="square" lIns="0" tIns="0" rIns="0" bIns="0" rtlCol="0" anchor="ctr"/>
          <a:lstStyle/>
          <a:p>
            <a:pPr marL="0" indent="0" algn="r">
              <a:buNone/>
            </a:pPr>
            <a:r>
              <a:rPr lang="en-US" sz="1000" dirty="0">
                <a:solidFill>
                  <a:srgbClr val="888888"/>
                </a:solidFill>
              </a:rPr>
              <a:t>6</a:t>
            </a:r>
            <a:endParaRPr lang="en-US" sz="1000" dirty="0"/>
          </a:p>
        </p:txBody>
      </p:sp>
      <p:sp>
        <p:nvSpPr>
          <p:cNvPr id="6" name="Text 2"/>
          <p:cNvSpPr/>
          <p:nvPr/>
        </p:nvSpPr>
        <p:spPr>
          <a:xfrm>
            <a:off x="6172200" y="841248"/>
            <a:ext cx="5394960" cy="310896"/>
          </a:xfrm>
          <a:prstGeom prst="rect">
            <a:avLst/>
          </a:prstGeom>
          <a:noFill/>
          <a:ln/>
        </p:spPr>
        <p:txBody>
          <a:bodyPr wrap="square" lIns="0" tIns="0" rIns="0" bIns="0" rtlCol="0" anchor="ctr"/>
          <a:lstStyle/>
          <a:p>
            <a:r>
              <a:rPr lang="en-US" sz="2000" b="1" dirty="0">
                <a:solidFill>
                  <a:srgbClr val="243A62"/>
                </a:solidFill>
                <a:latin typeface="Aptos" pitchFamily="34" charset="0"/>
                <a:ea typeface="Aptos" pitchFamily="34" charset="-122"/>
                <a:cs typeface="Aptos" pitchFamily="34" charset="-120"/>
              </a:rPr>
              <a:t>Planning for What Comes Next</a:t>
            </a:r>
            <a:endParaRPr lang="en-US" sz="2000" dirty="0"/>
          </a:p>
        </p:txBody>
      </p:sp>
      <p:sp>
        <p:nvSpPr>
          <p:cNvPr id="7" name="Shape 3"/>
          <p:cNvSpPr/>
          <p:nvPr/>
        </p:nvSpPr>
        <p:spPr>
          <a:xfrm>
            <a:off x="6217920" y="1911096"/>
            <a:ext cx="109728" cy="109728"/>
          </a:xfrm>
          <a:prstGeom prst="ellipse">
            <a:avLst/>
          </a:prstGeom>
          <a:solidFill>
            <a:srgbClr val="396CB8"/>
          </a:solidFill>
          <a:ln w="12700">
            <a:solidFill>
              <a:srgbClr val="396CB8"/>
            </a:solidFill>
            <a:prstDash val="solid"/>
          </a:ln>
        </p:spPr>
        <p:txBody>
          <a:bodyPr/>
          <a:lstStyle/>
          <a:p>
            <a:endParaRPr lang="en-US"/>
          </a:p>
        </p:txBody>
      </p:sp>
      <p:sp>
        <p:nvSpPr>
          <p:cNvPr id="8" name="Text 4"/>
          <p:cNvSpPr/>
          <p:nvPr/>
        </p:nvSpPr>
        <p:spPr>
          <a:xfrm>
            <a:off x="6473952" y="1554480"/>
            <a:ext cx="5166360" cy="804672"/>
          </a:xfrm>
          <a:prstGeom prst="rect">
            <a:avLst/>
          </a:prstGeom>
          <a:noFill/>
          <a:ln/>
        </p:spPr>
        <p:txBody>
          <a:bodyPr wrap="square" lIns="0" tIns="0" rIns="0" bIns="0" rtlCol="0" anchor="ctr">
            <a:normAutofit/>
          </a:bodyPr>
          <a:lstStyle/>
          <a:p>
            <a:r>
              <a:rPr lang="en-US" dirty="0">
                <a:solidFill>
                  <a:srgbClr val="1F2937"/>
                </a:solidFill>
                <a:latin typeface="Aptos" pitchFamily="34" charset="0"/>
                <a:ea typeface="Aptos" pitchFamily="34" charset="-122"/>
                <a:cs typeface="Aptos" pitchFamily="34" charset="-120"/>
              </a:rPr>
              <a:t>An internet connection is required to update live system records</a:t>
            </a:r>
            <a:endParaRPr lang="en-US" sz="1800" dirty="0"/>
          </a:p>
        </p:txBody>
      </p:sp>
      <p:sp>
        <p:nvSpPr>
          <p:cNvPr id="9" name="Shape 5"/>
          <p:cNvSpPr/>
          <p:nvPr/>
        </p:nvSpPr>
        <p:spPr>
          <a:xfrm>
            <a:off x="6206018" y="2752344"/>
            <a:ext cx="109728" cy="109728"/>
          </a:xfrm>
          <a:prstGeom prst="ellipse">
            <a:avLst/>
          </a:prstGeom>
          <a:solidFill>
            <a:srgbClr val="396CB8"/>
          </a:solidFill>
          <a:ln w="12700">
            <a:solidFill>
              <a:srgbClr val="396CB8"/>
            </a:solidFill>
            <a:prstDash val="solid"/>
          </a:ln>
        </p:spPr>
        <p:txBody>
          <a:bodyPr/>
          <a:lstStyle/>
          <a:p>
            <a:endParaRPr lang="en-US"/>
          </a:p>
        </p:txBody>
      </p:sp>
      <p:sp>
        <p:nvSpPr>
          <p:cNvPr id="10" name="Text 6"/>
          <p:cNvSpPr/>
          <p:nvPr/>
        </p:nvSpPr>
        <p:spPr>
          <a:xfrm>
            <a:off x="6473952" y="2395728"/>
            <a:ext cx="5166360" cy="804672"/>
          </a:xfrm>
          <a:prstGeom prst="rect">
            <a:avLst/>
          </a:prstGeom>
          <a:noFill/>
          <a:ln/>
        </p:spPr>
        <p:txBody>
          <a:bodyPr wrap="square" lIns="0" tIns="0" rIns="0" bIns="0" rtlCol="0" anchor="ctr">
            <a:normAutofit/>
          </a:bodyPr>
          <a:lstStyle/>
          <a:p>
            <a:r>
              <a:rPr lang="en-US" dirty="0">
                <a:solidFill>
                  <a:srgbClr val="1F2937"/>
                </a:solidFill>
                <a:latin typeface="Aptos" pitchFamily="34" charset="0"/>
                <a:ea typeface="Aptos" pitchFamily="34" charset="-122"/>
                <a:cs typeface="Aptos" pitchFamily="34" charset="-120"/>
              </a:rPr>
              <a:t>DMV updates depend on the information and access methods the DMV provides</a:t>
            </a:r>
            <a:endParaRPr lang="en-US" sz="1800" dirty="0"/>
          </a:p>
        </p:txBody>
      </p:sp>
      <p:sp>
        <p:nvSpPr>
          <p:cNvPr id="11" name="Shape 7"/>
          <p:cNvSpPr/>
          <p:nvPr/>
        </p:nvSpPr>
        <p:spPr>
          <a:xfrm>
            <a:off x="6217920" y="3593592"/>
            <a:ext cx="109728" cy="109728"/>
          </a:xfrm>
          <a:prstGeom prst="ellipse">
            <a:avLst/>
          </a:prstGeom>
          <a:solidFill>
            <a:srgbClr val="396CB8"/>
          </a:solidFill>
          <a:ln w="12700">
            <a:solidFill>
              <a:srgbClr val="396CB8"/>
            </a:solidFill>
            <a:prstDash val="solid"/>
          </a:ln>
        </p:spPr>
        <p:txBody>
          <a:bodyPr/>
          <a:lstStyle/>
          <a:p>
            <a:endParaRPr lang="en-US"/>
          </a:p>
        </p:txBody>
      </p:sp>
      <p:sp>
        <p:nvSpPr>
          <p:cNvPr id="12" name="Text 8"/>
          <p:cNvSpPr/>
          <p:nvPr/>
        </p:nvSpPr>
        <p:spPr>
          <a:xfrm>
            <a:off x="6473952" y="3236976"/>
            <a:ext cx="5166360" cy="804672"/>
          </a:xfrm>
          <a:prstGeom prst="rect">
            <a:avLst/>
          </a:prstGeom>
          <a:noFill/>
          <a:ln/>
        </p:spPr>
        <p:txBody>
          <a:bodyPr wrap="square" lIns="0" tIns="0" rIns="0" bIns="0" rtlCol="0" anchor="ctr">
            <a:normAutofit/>
          </a:bodyPr>
          <a:lstStyle/>
          <a:p>
            <a:r>
              <a:rPr lang="en-US" dirty="0">
                <a:solidFill>
                  <a:srgbClr val="1F2937"/>
                </a:solidFill>
                <a:latin typeface="Aptos" pitchFamily="34" charset="0"/>
                <a:ea typeface="Aptos" pitchFamily="34" charset="-122"/>
                <a:cs typeface="Aptos" pitchFamily="34" charset="-120"/>
              </a:rPr>
              <a:t>Cloud services and payment processing introduce ongoing operating costs</a:t>
            </a:r>
            <a:endParaRPr lang="en-US" sz="1800" dirty="0"/>
          </a:p>
        </p:txBody>
      </p:sp>
      <p:sp>
        <p:nvSpPr>
          <p:cNvPr id="13" name="Shape 9"/>
          <p:cNvSpPr/>
          <p:nvPr/>
        </p:nvSpPr>
        <p:spPr>
          <a:xfrm>
            <a:off x="6220533" y="4425696"/>
            <a:ext cx="109728" cy="109728"/>
          </a:xfrm>
          <a:prstGeom prst="ellipse">
            <a:avLst/>
          </a:prstGeom>
          <a:solidFill>
            <a:srgbClr val="396CB8"/>
          </a:solidFill>
          <a:ln w="12700">
            <a:solidFill>
              <a:srgbClr val="396CB8"/>
            </a:solidFill>
            <a:prstDash val="solid"/>
          </a:ln>
        </p:spPr>
        <p:txBody>
          <a:bodyPr/>
          <a:lstStyle/>
          <a:p>
            <a:endParaRPr lang="en-US"/>
          </a:p>
        </p:txBody>
      </p:sp>
      <p:sp>
        <p:nvSpPr>
          <p:cNvPr id="14" name="Text 10"/>
          <p:cNvSpPr/>
          <p:nvPr/>
        </p:nvSpPr>
        <p:spPr>
          <a:xfrm>
            <a:off x="6473952" y="4078224"/>
            <a:ext cx="5166360" cy="804672"/>
          </a:xfrm>
          <a:prstGeom prst="rect">
            <a:avLst/>
          </a:prstGeom>
          <a:noFill/>
          <a:ln/>
        </p:spPr>
        <p:txBody>
          <a:bodyPr wrap="square" lIns="0" tIns="0" rIns="0" bIns="0" rtlCol="0" anchor="ctr">
            <a:normAutofit/>
          </a:bodyPr>
          <a:lstStyle/>
          <a:p>
            <a:r>
              <a:rPr lang="en-US" dirty="0">
                <a:solidFill>
                  <a:srgbClr val="1F2937"/>
                </a:solidFill>
                <a:latin typeface="Aptos" pitchFamily="34" charset="0"/>
                <a:ea typeface="Aptos" pitchFamily="34" charset="-122"/>
                <a:cs typeface="Aptos" pitchFamily="34" charset="-120"/>
              </a:rPr>
              <a:t>New training package customization is reserved for a future phase</a:t>
            </a:r>
            <a:endParaRPr lang="en-US" sz="1800" dirty="0"/>
          </a:p>
        </p:txBody>
      </p:sp>
      <p:sp>
        <p:nvSpPr>
          <p:cNvPr id="15" name="Shape 11"/>
          <p:cNvSpPr/>
          <p:nvPr/>
        </p:nvSpPr>
        <p:spPr>
          <a:xfrm>
            <a:off x="6217920" y="5271153"/>
            <a:ext cx="109728" cy="109728"/>
          </a:xfrm>
          <a:prstGeom prst="ellipse">
            <a:avLst/>
          </a:prstGeom>
          <a:solidFill>
            <a:srgbClr val="396CB8"/>
          </a:solidFill>
          <a:ln w="12700">
            <a:solidFill>
              <a:srgbClr val="396CB8"/>
            </a:solidFill>
            <a:prstDash val="solid"/>
          </a:ln>
        </p:spPr>
        <p:txBody>
          <a:bodyPr/>
          <a:lstStyle/>
          <a:p>
            <a:endParaRPr lang="en-US"/>
          </a:p>
        </p:txBody>
      </p:sp>
      <p:sp>
        <p:nvSpPr>
          <p:cNvPr id="16" name="Text 12"/>
          <p:cNvSpPr/>
          <p:nvPr/>
        </p:nvSpPr>
        <p:spPr>
          <a:xfrm>
            <a:off x="6473952" y="4919472"/>
            <a:ext cx="5166360" cy="804672"/>
          </a:xfrm>
          <a:prstGeom prst="rect">
            <a:avLst/>
          </a:prstGeom>
          <a:noFill/>
          <a:ln/>
        </p:spPr>
        <p:txBody>
          <a:bodyPr wrap="square" lIns="0" tIns="0" rIns="0" bIns="0" rtlCol="0" anchor="ctr">
            <a:normAutofit/>
          </a:bodyPr>
          <a:lstStyle/>
          <a:p>
            <a:r>
              <a:rPr lang="en-US" dirty="0">
                <a:solidFill>
                  <a:srgbClr val="1F2937"/>
                </a:solidFill>
                <a:latin typeface="Aptos" pitchFamily="34" charset="0"/>
                <a:ea typeface="Aptos" pitchFamily="34" charset="-122"/>
                <a:cs typeface="Aptos" pitchFamily="34" charset="-120"/>
              </a:rPr>
              <a:t>Final implementation details depend on confirming </a:t>
            </a:r>
            <a:r>
              <a:rPr lang="en-US" dirty="0" err="1">
                <a:solidFill>
                  <a:srgbClr val="1F2937"/>
                </a:solidFill>
                <a:latin typeface="Aptos" pitchFamily="34" charset="0"/>
                <a:ea typeface="Aptos" pitchFamily="34" charset="-122"/>
                <a:cs typeface="Aptos" pitchFamily="34" charset="-120"/>
              </a:rPr>
              <a:t>DriverPass's</a:t>
            </a:r>
            <a:r>
              <a:rPr lang="en-US" dirty="0">
                <a:solidFill>
                  <a:srgbClr val="1F2937"/>
                </a:solidFill>
                <a:latin typeface="Aptos" pitchFamily="34" charset="0"/>
                <a:ea typeface="Aptos" pitchFamily="34" charset="-122"/>
                <a:cs typeface="Aptos" pitchFamily="34" charset="-120"/>
              </a:rPr>
              <a:t> existing technology and budget</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77</TotalTime>
  <Words>1185</Words>
  <Application>Microsoft Office PowerPoint</Application>
  <PresentationFormat>Widescreen</PresentationFormat>
  <Paragraphs>77</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DriverPass System Analysis</dc:title>
  <dc:subject>CS 255 DriverPass client presentation</dc:subject>
  <dc:creator>Jeremy R. Pauley</dc:creator>
  <cp:lastModifiedBy>Jeremy Pauley</cp:lastModifiedBy>
  <cp:revision>5</cp:revision>
  <dcterms:created xsi:type="dcterms:W3CDTF">2026-10-14T18:18:44Z</dcterms:created>
  <dcterms:modified xsi:type="dcterms:W3CDTF">2026-10-18T03:27:35Z</dcterms:modified>
</cp:coreProperties>
</file>